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lexandria ExtraBold"/>
      <p:bold r:id="rId15"/>
    </p:embeddedFont>
    <p:embeddedFont>
      <p:font typeface="Alexandria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exandriaExtraBold-bold.fntdata"/><Relationship Id="rId14" Type="http://schemas.openxmlformats.org/officeDocument/2006/relationships/slide" Target="slides/slide9.xml"/><Relationship Id="rId17" Type="http://schemas.openxmlformats.org/officeDocument/2006/relationships/font" Target="fonts/AlexandriaSemiBold-bold.fntdata"/><Relationship Id="rId16" Type="http://schemas.openxmlformats.org/officeDocument/2006/relationships/font" Target="fonts/Alexandria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7e3abe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7e3abe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7e3abea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87e3abea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7e3abea5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87e3abea5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7e3abea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87e3abea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7e3abea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87e3abea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7e3abea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87e3abea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7e3abea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87e3abea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87e3abea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87e3abea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87e3abea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87e3abea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W5oNt81Z2qCeIUuYwiep4_8EcjlbH0mn/view" TargetMode="External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1-16 at 5.47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Screenshot 2026-01-16 at 5.50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825"/>
            <a:ext cx="5155949" cy="18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02475" y="2513225"/>
            <a:ext cx="5002800" cy="16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Alexandria ExtraBold"/>
                <a:ea typeface="Alexandria ExtraBold"/>
                <a:cs typeface="Alexandria ExtraBold"/>
                <a:sym typeface="Alexandria ExtraBold"/>
              </a:rPr>
              <a:t>Snoonu Merchant Intelligence Platform by </a:t>
            </a:r>
            <a:r>
              <a:rPr i="1" lang="en" sz="3400">
                <a:solidFill>
                  <a:srgbClr val="FFFFFF"/>
                </a:solidFill>
                <a:latin typeface="Alexandria ExtraBold"/>
                <a:ea typeface="Alexandria ExtraBold"/>
                <a:cs typeface="Alexandria ExtraBold"/>
                <a:sym typeface="Alexandria ExtraBold"/>
              </a:rPr>
              <a:t>Snoonunation</a:t>
            </a:r>
            <a:endParaRPr i="1" sz="3400">
              <a:solidFill>
                <a:srgbClr val="FFFFFF"/>
              </a:solidFill>
              <a:latin typeface="Alexandria ExtraBold"/>
              <a:ea typeface="Alexandria ExtraBold"/>
              <a:cs typeface="Alexandria ExtraBold"/>
              <a:sym typeface="Alexandria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3" name="Google Shape;63;p14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4" name="Google Shape;64;p14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5" name="Google Shape;65;p14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6" name="Google Shape;66;p14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7" name="Google Shape;67;p14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8" name="Google Shape;68;p14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69" name="Google Shape;69;p14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71" name="Google Shape;71;p14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Snoonu merchants struggle to understand what actions actually grow their business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552589" y="1554716"/>
            <a:ext cx="1998000" cy="10251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5552589" y="2832849"/>
            <a:ext cx="1998000" cy="10251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46">
                <a:solidFill>
                  <a:srgbClr val="FFFFFF"/>
                </a:solidFill>
              </a:rPr>
              <a:t>Low Campaign Adoption</a:t>
            </a:r>
            <a:endParaRPr sz="1746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507041" y="2825720"/>
            <a:ext cx="1998000" cy="10251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507041" y="1538002"/>
            <a:ext cx="1998000" cy="10251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3788328" y="2189814"/>
            <a:ext cx="1480800" cy="1025100"/>
          </a:xfrm>
          <a:prstGeom prst="roundRect">
            <a:avLst>
              <a:gd fmla="val 16667" name="adj"/>
            </a:avLst>
          </a:prstGeom>
          <a:solidFill>
            <a:srgbClr val="670A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46">
                <a:solidFill>
                  <a:srgbClr val="FFFFFF"/>
                </a:solidFill>
              </a:rPr>
              <a:t>Mission Growth Layer</a:t>
            </a:r>
            <a:endParaRPr sz="1746">
              <a:solidFill>
                <a:srgbClr val="FFFFFF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1623637" y="1815937"/>
            <a:ext cx="1764900" cy="716700"/>
          </a:xfrm>
          <a:prstGeom prst="rect">
            <a:avLst/>
          </a:prstGeom>
          <a:solidFill>
            <a:srgbClr val="B70328"/>
          </a:solidFill>
          <a:ln>
            <a:noFill/>
          </a:ln>
        </p:spPr>
        <p:txBody>
          <a:bodyPr anchorCtr="0" anchor="t" bIns="70575" lIns="70575" spcFirstLastPara="1" rIns="70575" wrap="square" tIns="70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0">
                <a:solidFill>
                  <a:srgbClr val="FFFFFF"/>
                </a:solidFill>
              </a:rPr>
              <a:t>Data Overload</a:t>
            </a:r>
            <a:endParaRPr sz="1760">
              <a:solidFill>
                <a:srgbClr val="FFFFFF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623758" y="3016286"/>
            <a:ext cx="1764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0575" lIns="70575" spcFirstLastPara="1" rIns="70575" wrap="square" tIns="70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77">
                <a:solidFill>
                  <a:srgbClr val="FFFFFF"/>
                </a:solidFill>
              </a:rPr>
              <a:t>Limited Time &amp; Expertise</a:t>
            </a:r>
            <a:endParaRPr sz="1777">
              <a:solidFill>
                <a:srgbClr val="FFFFFF"/>
              </a:solidFill>
            </a:endParaRPr>
          </a:p>
        </p:txBody>
      </p:sp>
      <p:cxnSp>
        <p:nvCxnSpPr>
          <p:cNvPr id="86" name="Google Shape;86;p14"/>
          <p:cNvCxnSpPr>
            <a:stCxn id="83" idx="0"/>
          </p:cNvCxnSpPr>
          <p:nvPr/>
        </p:nvCxnSpPr>
        <p:spPr>
          <a:xfrm flipH="1" rot="5400000">
            <a:off x="3956028" y="1617114"/>
            <a:ext cx="121500" cy="1023900"/>
          </a:xfrm>
          <a:prstGeom prst="bentConnector2">
            <a:avLst/>
          </a:prstGeom>
          <a:noFill/>
          <a:ln cap="flat" cmpd="sng" w="73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4"/>
          <p:cNvCxnSpPr/>
          <p:nvPr/>
        </p:nvCxnSpPr>
        <p:spPr>
          <a:xfrm rot="-5400000">
            <a:off x="4979927" y="1617114"/>
            <a:ext cx="121500" cy="1023900"/>
          </a:xfrm>
          <a:prstGeom prst="bentConnector2">
            <a:avLst/>
          </a:prstGeom>
          <a:noFill/>
          <a:ln cap="flat" cmpd="sng" w="73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/>
          <p:nvPr/>
        </p:nvCxnSpPr>
        <p:spPr>
          <a:xfrm rot="5400000">
            <a:off x="3956027" y="2764815"/>
            <a:ext cx="121500" cy="1023900"/>
          </a:xfrm>
          <a:prstGeom prst="bentConnector2">
            <a:avLst/>
          </a:prstGeom>
          <a:noFill/>
          <a:ln cap="flat" cmpd="sng" w="73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/>
          <p:nvPr/>
        </p:nvCxnSpPr>
        <p:spPr>
          <a:xfrm flipH="1" rot="-5400000">
            <a:off x="4979927" y="2764815"/>
            <a:ext cx="121500" cy="1023900"/>
          </a:xfrm>
          <a:prstGeom prst="bentConnector2">
            <a:avLst/>
          </a:prstGeom>
          <a:noFill/>
          <a:ln cap="flat" cmpd="sng" w="7350">
            <a:solidFill>
              <a:srgbClr val="44444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4"/>
          <p:cNvSpPr txBox="1"/>
          <p:nvPr/>
        </p:nvSpPr>
        <p:spPr>
          <a:xfrm>
            <a:off x="5668887" y="1694346"/>
            <a:ext cx="1764900" cy="716700"/>
          </a:xfrm>
          <a:prstGeom prst="rect">
            <a:avLst/>
          </a:prstGeom>
          <a:solidFill>
            <a:srgbClr val="B70328"/>
          </a:solidFill>
          <a:ln>
            <a:noFill/>
          </a:ln>
        </p:spPr>
        <p:txBody>
          <a:bodyPr anchorCtr="0" anchor="t" bIns="70575" lIns="70575" spcFirstLastPara="1" rIns="70575" wrap="square" tIns="70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0">
                <a:solidFill>
                  <a:srgbClr val="FFFFFF"/>
                </a:solidFill>
              </a:rPr>
              <a:t>No Decision </a:t>
            </a:r>
            <a:r>
              <a:rPr lang="en" sz="1760">
                <a:solidFill>
                  <a:srgbClr val="FFFFFF"/>
                </a:solidFill>
              </a:rPr>
              <a:t>Support</a:t>
            </a:r>
            <a:endParaRPr sz="176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448362" y="2175213"/>
            <a:ext cx="1993200" cy="1117800"/>
          </a:xfrm>
          <a:prstGeom prst="rect">
            <a:avLst/>
          </a:prstGeom>
          <a:solidFill>
            <a:srgbClr val="670A28"/>
          </a:solidFill>
          <a:ln cap="flat" cmpd="sng" w="12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575" lIns="117575" spcFirstLastPara="1" rIns="117575" wrap="square" tIns="11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1">
                <a:solidFill>
                  <a:schemeClr val="lt1"/>
                </a:solidFill>
              </a:rPr>
              <a:t>Industry Research</a:t>
            </a:r>
            <a:endParaRPr b="1" sz="1801">
              <a:solidFill>
                <a:schemeClr val="lt1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479357" y="2175213"/>
            <a:ext cx="1993200" cy="1117800"/>
          </a:xfrm>
          <a:prstGeom prst="rect">
            <a:avLst/>
          </a:prstGeom>
          <a:solidFill>
            <a:srgbClr val="670A28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575" lIns="117575" spcFirstLastPara="1" rIns="117575" wrap="square" tIns="11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1">
                <a:solidFill>
                  <a:schemeClr val="lt1"/>
                </a:solidFill>
                <a:highlight>
                  <a:srgbClr val="670A28"/>
                </a:highlight>
              </a:rPr>
              <a:t>Platform Impact</a:t>
            </a:r>
            <a:endParaRPr b="1" sz="1801">
              <a:solidFill>
                <a:schemeClr val="lt1"/>
              </a:solidFill>
              <a:highlight>
                <a:srgbClr val="670A28"/>
              </a:highlight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649763" y="2175197"/>
            <a:ext cx="1993200" cy="1117800"/>
          </a:xfrm>
          <a:prstGeom prst="rect">
            <a:avLst/>
          </a:prstGeom>
          <a:solidFill>
            <a:srgbClr val="670A28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575" lIns="117575" spcFirstLastPara="1" rIns="117575" wrap="square" tIns="117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1">
                <a:solidFill>
                  <a:schemeClr val="lt1"/>
                </a:solidFill>
              </a:rPr>
              <a:t>Customer &amp; Revenue Impact</a:t>
            </a:r>
            <a:endParaRPr b="1" sz="1801">
              <a:solidFill>
                <a:schemeClr val="lt1"/>
              </a:solidFill>
            </a:endParaR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Global delivery platforms actively invest in merchant support, analytics, and growth guidance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1" name="Google Shape;101;p15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2" name="Google Shape;102;p15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3" name="Google Shape;103;p15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4" name="Google Shape;104;p15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5" name="Google Shape;105;p15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6" name="Google Shape;106;p15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7" name="Google Shape;107;p15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09" name="Google Shape;109;p15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Merchant intelligence acts as a growth operating system that </a:t>
            </a: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guides merchants step by step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3" name="Google Shape;123;p16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4" name="Google Shape;124;p16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5" name="Google Shape;125;p16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6" name="Google Shape;126;p16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7" name="Google Shape;127;p16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8" name="Google Shape;128;p16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29" name="Google Shape;129;p16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31" name="Google Shape;131;p16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pic>
        <p:nvPicPr>
          <p:cNvPr id="138" name="Google Shape;138;p16" title="Screenshot 2026-01-17 at 8.50.07 am.png"/>
          <p:cNvPicPr preferRelativeResize="0"/>
          <p:nvPr/>
        </p:nvPicPr>
        <p:blipFill rotWithShape="1">
          <a:blip r:embed="rId4">
            <a:alphaModFix/>
          </a:blip>
          <a:srcRect b="0" l="0" r="0" t="1108"/>
          <a:stretch/>
        </p:blipFill>
        <p:spPr>
          <a:xfrm>
            <a:off x="1489400" y="1362763"/>
            <a:ext cx="6092751" cy="284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>
            <p:ph type="title"/>
          </p:nvPr>
        </p:nvSpPr>
        <p:spPr>
          <a:xfrm>
            <a:off x="311700" y="17714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The system transforms performance data into prioritized, high-impact actions for merchants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46" name="Google Shape;146;p17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47" name="Google Shape;147;p17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48" name="Google Shape;148;p17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49" name="Google Shape;149;p17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50" name="Google Shape;150;p17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51" name="Google Shape;151;p17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52" name="Google Shape;152;p17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54" name="Google Shape;154;p17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Our prototype shows how merchants identify problems, take action, and measure impact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68" name="Google Shape;168;p18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69" name="Google Shape;169;p18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0" name="Google Shape;170;p18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1" name="Google Shape;171;p18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2" name="Google Shape;172;p18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3" name="Google Shape;173;p18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4" name="Google Shape;174;p18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76" name="Google Shape;176;p18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pic>
        <p:nvPicPr>
          <p:cNvPr id="183" name="Google Shape;183;p18" title="Dashboard Mockup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2450" y="-10008"/>
            <a:ext cx="9216451" cy="5184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008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Success is measured through merchant adoption and platform-level performance improvements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1" name="Google Shape;191;p19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2" name="Google Shape;192;p19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3" name="Google Shape;193;p19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4" name="Google Shape;194;p19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5" name="Google Shape;195;p19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6" name="Google Shape;196;p19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7" name="Google Shape;197;p19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199" name="Google Shape;199;p19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236976" y="2045940"/>
            <a:ext cx="1998000" cy="12942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2428751" y="2045953"/>
            <a:ext cx="1998000" cy="12942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887088" y="2045940"/>
            <a:ext cx="1998000" cy="12942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657922" y="2045948"/>
            <a:ext cx="1998000" cy="1294200"/>
          </a:xfrm>
          <a:prstGeom prst="roundRect">
            <a:avLst>
              <a:gd fmla="val 16667" name="adj"/>
            </a:avLst>
          </a:prstGeom>
          <a:solidFill>
            <a:srgbClr val="B70328"/>
          </a:solidFill>
          <a:ln>
            <a:noFill/>
          </a:ln>
        </p:spPr>
        <p:txBody>
          <a:bodyPr anchorCtr="0" anchor="ctr" bIns="70575" lIns="70575" spcFirstLastPara="1" rIns="70575" wrap="square" tIns="70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19" title="Screenshot 2026-01-17 at 6.39.1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125" y="2070858"/>
            <a:ext cx="59769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title="Screenshot 2026-01-17 at 6.40.1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736" y="2070850"/>
            <a:ext cx="64541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title="Screenshot 2026-01-17 at 6.41.04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7425" y="2068418"/>
            <a:ext cx="597700" cy="577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title="Screenshot 2026-01-17 at 6.41.46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8078" y="2062695"/>
            <a:ext cx="597700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473254" y="2602873"/>
            <a:ext cx="153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Campaigns per Merchant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2680541" y="2602873"/>
            <a:ext cx="153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Average Order Value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7130366" y="2605794"/>
            <a:ext cx="153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Cancellation Rate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4851966" y="2602877"/>
            <a:ext cx="153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Revenue Growth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The solution integrates with Snoonu’s existing data systems and can scale incrementally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25" name="Google Shape;225;p20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26" name="Google Shape;226;p20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27" name="Google Shape;227;p20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28" name="Google Shape;228;p20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29" name="Google Shape;229;p20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30" name="Google Shape;230;p20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31" name="Google Shape;231;p20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33" name="Google Shape;233;p20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771500" y="1515249"/>
            <a:ext cx="1177800" cy="1182600"/>
          </a:xfrm>
          <a:prstGeom prst="ellipse">
            <a:avLst/>
          </a:prstGeom>
          <a:solidFill>
            <a:srgbClr val="B703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1" name="Google Shape;241;p20"/>
          <p:cNvSpPr/>
          <p:nvPr/>
        </p:nvSpPr>
        <p:spPr>
          <a:xfrm>
            <a:off x="3054698" y="2026089"/>
            <a:ext cx="813000" cy="1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0A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2" name="Google Shape;242;p20"/>
          <p:cNvSpPr/>
          <p:nvPr/>
        </p:nvSpPr>
        <p:spPr>
          <a:xfrm rot="2379062">
            <a:off x="6692851" y="2581383"/>
            <a:ext cx="441460" cy="117012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70A2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681938" y="1648492"/>
            <a:ext cx="1356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Data Foundation (MVP)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258298" y="2026089"/>
            <a:ext cx="813000" cy="1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0A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5" name="Google Shape;245;p20"/>
          <p:cNvSpPr/>
          <p:nvPr/>
        </p:nvSpPr>
        <p:spPr>
          <a:xfrm rot="10798731">
            <a:off x="3940399" y="3289364"/>
            <a:ext cx="813000" cy="1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0A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6" name="Google Shape;246;p20"/>
          <p:cNvSpPr/>
          <p:nvPr/>
        </p:nvSpPr>
        <p:spPr>
          <a:xfrm>
            <a:off x="3974100" y="1518199"/>
            <a:ext cx="1177800" cy="1182600"/>
          </a:xfrm>
          <a:prstGeom prst="ellipse">
            <a:avLst/>
          </a:prstGeom>
          <a:solidFill>
            <a:srgbClr val="B703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7" name="Google Shape;247;p20"/>
          <p:cNvSpPr txBox="1"/>
          <p:nvPr/>
        </p:nvSpPr>
        <p:spPr>
          <a:xfrm>
            <a:off x="4049388" y="1819289"/>
            <a:ext cx="10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Guided Adoption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177700" y="1480824"/>
            <a:ext cx="1177800" cy="1182600"/>
          </a:xfrm>
          <a:prstGeom prst="ellipse">
            <a:avLst/>
          </a:prstGeom>
          <a:solidFill>
            <a:srgbClr val="B703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49" name="Google Shape;249;p20"/>
          <p:cNvSpPr txBox="1"/>
          <p:nvPr/>
        </p:nvSpPr>
        <p:spPr>
          <a:xfrm>
            <a:off x="6119038" y="1772055"/>
            <a:ext cx="129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Autonomous Layer</a:t>
            </a:r>
            <a:r>
              <a:rPr b="1" lang="en">
                <a:solidFill>
                  <a:srgbClr val="FFFFFF"/>
                </a:solidFill>
              </a:rPr>
              <a:t> 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972950" y="2785961"/>
            <a:ext cx="1177800" cy="1182600"/>
          </a:xfrm>
          <a:prstGeom prst="ellipse">
            <a:avLst/>
          </a:prstGeom>
          <a:solidFill>
            <a:srgbClr val="B703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51" name="Google Shape;251;p20"/>
          <p:cNvSpPr txBox="1"/>
          <p:nvPr/>
        </p:nvSpPr>
        <p:spPr>
          <a:xfrm>
            <a:off x="4959538" y="3057007"/>
            <a:ext cx="122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Platform </a:t>
            </a:r>
            <a:r>
              <a:rPr b="1" lang="en">
                <a:solidFill>
                  <a:srgbClr val="FFFFFF"/>
                </a:solidFill>
              </a:rPr>
              <a:t>Integration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624050" y="2788436"/>
            <a:ext cx="1177800" cy="1182600"/>
          </a:xfrm>
          <a:prstGeom prst="ellipse">
            <a:avLst/>
          </a:prstGeom>
          <a:solidFill>
            <a:srgbClr val="B70328"/>
          </a:solidFill>
          <a:ln cap="flat" cmpd="sng" w="108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075" lIns="104075" spcFirstLastPara="1" rIns="104075" wrap="square" tIns="10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4"/>
          </a:p>
        </p:txBody>
      </p:sp>
      <p:sp>
        <p:nvSpPr>
          <p:cNvPr id="253" name="Google Shape;253;p20"/>
          <p:cNvSpPr txBox="1"/>
          <p:nvPr/>
        </p:nvSpPr>
        <p:spPr>
          <a:xfrm>
            <a:off x="2575893" y="2997225"/>
            <a:ext cx="129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Autonomous Growth Engine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 title="Screenshot 2026-01-16 at 7.20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462" y="0"/>
            <a:ext cx="92164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>
            <p:ph type="title"/>
          </p:nvPr>
        </p:nvSpPr>
        <p:spPr>
          <a:xfrm>
            <a:off x="311700" y="49484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 SemiBold"/>
                <a:ea typeface="Alexandria SemiBold"/>
                <a:cs typeface="Alexandria SemiBold"/>
                <a:sym typeface="Alexandria SemiBold"/>
              </a:rPr>
              <a:t>This system transforms Snoonu from a marketplace into a growth partner for merchants</a:t>
            </a:r>
            <a:endParaRPr>
              <a:latin typeface="Alexandria SemiBold"/>
              <a:ea typeface="Alexandria SemiBold"/>
              <a:cs typeface="Alexandria SemiBold"/>
              <a:sym typeface="Alexandria SemiBol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93197" y="4204538"/>
            <a:ext cx="1313100" cy="869100"/>
          </a:xfrm>
          <a:prstGeom prst="homePlate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1" name="Google Shape;261;p21"/>
          <p:cNvSpPr/>
          <p:nvPr/>
        </p:nvSpPr>
        <p:spPr>
          <a:xfrm>
            <a:off x="1322850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230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2" name="Google Shape;262;p21"/>
          <p:cNvSpPr/>
          <p:nvPr/>
        </p:nvSpPr>
        <p:spPr>
          <a:xfrm>
            <a:off x="3382155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3" name="Google Shape;263;p21"/>
          <p:cNvSpPr/>
          <p:nvPr/>
        </p:nvSpPr>
        <p:spPr>
          <a:xfrm>
            <a:off x="4411807" y="420452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4" name="Google Shape;264;p21"/>
          <p:cNvSpPr/>
          <p:nvPr/>
        </p:nvSpPr>
        <p:spPr>
          <a:xfrm>
            <a:off x="5441459" y="4204600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5" name="Google Shape;265;p21"/>
          <p:cNvSpPr/>
          <p:nvPr/>
        </p:nvSpPr>
        <p:spPr>
          <a:xfrm>
            <a:off x="6471112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6" name="Google Shape;266;p21"/>
          <p:cNvSpPr/>
          <p:nvPr/>
        </p:nvSpPr>
        <p:spPr>
          <a:xfrm>
            <a:off x="2352502" y="4204559"/>
            <a:ext cx="1313100" cy="869100"/>
          </a:xfrm>
          <a:prstGeom prst="chevron">
            <a:avLst>
              <a:gd fmla="val 50000" name="adj"/>
            </a:avLst>
          </a:prstGeom>
          <a:solidFill>
            <a:srgbClr val="670A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7" name="Google Shape;267;p21"/>
          <p:cNvSpPr txBox="1"/>
          <p:nvPr/>
        </p:nvSpPr>
        <p:spPr>
          <a:xfrm>
            <a:off x="4822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Problem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500765" y="4204647"/>
            <a:ext cx="1313100" cy="869100"/>
          </a:xfrm>
          <a:prstGeom prst="chevron">
            <a:avLst>
              <a:gd fmla="val 50000" name="adj"/>
            </a:avLst>
          </a:prstGeom>
          <a:solidFill>
            <a:srgbClr val="B70328"/>
          </a:solidFill>
          <a:ln cap="flat" cmpd="sng" w="8625">
            <a:solidFill>
              <a:srgbClr val="670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1"/>
          </a:p>
        </p:txBody>
      </p:sp>
      <p:sp>
        <p:nvSpPr>
          <p:cNvPr id="269" name="Google Shape;269;p21"/>
          <p:cNvSpPr txBox="1"/>
          <p:nvPr/>
        </p:nvSpPr>
        <p:spPr>
          <a:xfrm>
            <a:off x="1708183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Evidence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2750262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Solution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817249" y="4443071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System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797033" y="4430617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Prototype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5876378" y="44312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Impact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6937194" y="4443622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Scale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7935503" y="4443080"/>
            <a:ext cx="915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3000" lIns="83000" spcFirstLastPara="1" rIns="83000" wrap="square" tIns="8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2">
                <a:solidFill>
                  <a:srgbClr val="FFFFFF"/>
                </a:solidFill>
              </a:rPr>
              <a:t>Vision</a:t>
            </a:r>
            <a:endParaRPr sz="1362">
              <a:solidFill>
                <a:srgbClr val="FFFFFF"/>
              </a:solidFill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477816" y="2117108"/>
            <a:ext cx="1693800" cy="95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0A2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10250" y="1631475"/>
            <a:ext cx="28935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Snoonu Today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Transaction Focused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Limited Merchant Guidance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Reactive Support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Revenue Driven by Volume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537969" y="1619021"/>
            <a:ext cx="28935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Snoonu Tomorrow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Growth Partner for </a:t>
            </a:r>
            <a:r>
              <a:rPr lang="en" sz="1600">
                <a:solidFill>
                  <a:schemeClr val="dk1"/>
                </a:solidFill>
              </a:rPr>
              <a:t>Merchants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Data Guided Decisions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Proactive Optimization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Revenue Driven by Merchant Success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